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141732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C6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TECHNICAL &amp; FINANCIAL PROPOSAL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737360"/>
            <a:ext cx="9507977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4200" dirty="0">
                <a:solidFill>
                  <a:srgbClr val="14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Hate Speech Early-Warning</a:t>
            </a:r>
            <a:endParaRPr lang="en-US" sz="4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200" dirty="0">
                <a:solidFill>
                  <a:srgbClr val="14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Legal Triage System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3246120"/>
            <a:ext cx="8053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decision-support system for Gilgit-Baltistan that identifies potentially unlawful online content, maps it to the applicable law, and places every case before a human officer.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4160520"/>
            <a:ext cx="11185855" cy="0"/>
          </a:xfrm>
          <a:prstGeom prst="line">
            <a:avLst/>
          </a:prstGeom>
          <a:noFill/>
          <a:ln w="12700">
            <a:solidFill>
              <a:srgbClr val="B9B9A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4315968"/>
            <a:ext cx="172714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818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SUBMITTED TO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4553712"/>
            <a:ext cx="172714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Home Secretary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&amp; Prison Department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of Gilgit-Baltistan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2367229" y="4315968"/>
            <a:ext cx="172714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818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SUBMITTED BY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2367229" y="4553712"/>
            <a:ext cx="172714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Zain Abbas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Zircon Logics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231538" y="4315968"/>
            <a:ext cx="172714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818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4231538" y="4553712"/>
            <a:ext cx="172714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abbaszayn08@gmail.com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0316-9244827 · 0355-5653738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095848" y="4315968"/>
            <a:ext cx="172714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818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095848" y="4553712"/>
            <a:ext cx="172714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4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Sep 2026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960157" y="4315968"/>
            <a:ext cx="172714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818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7960157" y="4553712"/>
            <a:ext cx="172714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4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9824466" y="4315968"/>
            <a:ext cx="172714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818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 1 PROGRAM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9824466" y="4553712"/>
            <a:ext cx="172714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C6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PKR 29,894,666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C6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THE PROBLEM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4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gaps in current capability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19072"/>
            <a:ext cx="355793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4088" y="1865376"/>
            <a:ext cx="31555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C6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LATENCY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04088" y="2157984"/>
            <a:ext cx="315559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that incites sectarian hostility circulates widely before it is noticed. By the time a complaint arrives, the administration's options have narrowed.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16882" y="1719072"/>
            <a:ext cx="355793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18050" y="1865376"/>
            <a:ext cx="31555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C6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LANGUAGE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518050" y="2157984"/>
            <a:ext cx="315559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local discourse is Roman Urdu or regional — Shina, Balti, Burushaski. General-purpose commercial moderation tools handle these poorly or not at all.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30845" y="1719072"/>
            <a:ext cx="355793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32013" y="1865376"/>
            <a:ext cx="31555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C6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332013" y="2157984"/>
            <a:ext cx="315559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case is escalated, its legal basis is assembled manually and inconsistently. Officers need the applicable provision identified alongside the content.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410712"/>
            <a:ext cx="11185855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3410712"/>
            <a:ext cx="45720" cy="960120"/>
          </a:xfrm>
          <a:prstGeom prst="rect">
            <a:avLst/>
          </a:prstGeom>
          <a:solidFill>
            <a:srgbClr val="8C6A2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58952" y="3520440"/>
            <a:ext cx="1072865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fourth consideration governs the design. In a region with real sectarian sensitivity, 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that produces false accusations is worse than no system at all.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18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13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18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SENTINEL — RESTRICTED, FOR OFFICIAL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C6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HOW IT WORKS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4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agents. One terminus.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component performs one task and passes an enriched case record onward. Processing ends, in every case, at human review.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2176272"/>
            <a:ext cx="1529029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12648" y="2286000"/>
            <a:ext cx="130957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8C6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612648" y="2679192"/>
            <a:ext cx="13095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12648" y="2980944"/>
            <a:ext cx="130957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1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provider. Public content only.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2031949" y="2176272"/>
            <a:ext cx="2560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B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287981" y="2176272"/>
            <a:ext cx="1529029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97709" y="2286000"/>
            <a:ext cx="130957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8C6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2397709" y="2679192"/>
            <a:ext cx="13095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2397709" y="2980944"/>
            <a:ext cx="130957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1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XLM-RoBERTa. EN / UR / Roman UR.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3817010" y="2176272"/>
            <a:ext cx="2560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B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073042" y="2176272"/>
            <a:ext cx="1529029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0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4182770" y="2286000"/>
            <a:ext cx="130957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8C6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CONDITIONAL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4182770" y="2679192"/>
            <a:ext cx="13095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Sarcasm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182770" y="2980944"/>
            <a:ext cx="130957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1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only at 0.40–0.70 confidence.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5602072" y="2176272"/>
            <a:ext cx="2560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B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858104" y="2176272"/>
            <a:ext cx="1529029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0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5967832" y="2286000"/>
            <a:ext cx="130957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8C6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CONDITIONAL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5967832" y="2679192"/>
            <a:ext cx="13095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967832" y="2980944"/>
            <a:ext cx="130957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1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near-identical posts ⇒ campaign.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7387133" y="2176272"/>
            <a:ext cx="2560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B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43165" y="2176272"/>
            <a:ext cx="1529029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0"/>
            </a:solidFill>
            <a:prstDash val="dash"/>
          </a:ln>
        </p:spPr>
      </p:sp>
      <p:sp>
        <p:nvSpPr>
          <p:cNvPr id="26" name="Text 24"/>
          <p:cNvSpPr txBox="1"/>
          <p:nvPr/>
        </p:nvSpPr>
        <p:spPr>
          <a:xfrm>
            <a:off x="7752893" y="2286000"/>
            <a:ext cx="130957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8C6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CONDITIONAL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7752893" y="2679192"/>
            <a:ext cx="13095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Mapping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752893" y="2980944"/>
            <a:ext cx="130957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1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Attaches statutory citation.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9172194" y="2176272"/>
            <a:ext cx="2560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B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428226" y="2176272"/>
            <a:ext cx="1529029" cy="1417320"/>
          </a:xfrm>
          <a:prstGeom prst="rect">
            <a:avLst/>
          </a:prstGeom>
          <a:solidFill>
            <a:srgbClr val="F1E8D7"/>
          </a:solidFill>
          <a:ln w="15875">
            <a:solidFill>
              <a:srgbClr val="8C6A2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537954" y="2286000"/>
            <a:ext cx="130957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8C6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ALWAYS</a:t>
            </a:r>
            <a:endParaRPr lang="en-US" sz="750" dirty="0"/>
          </a:p>
        </p:txBody>
      </p:sp>
      <p:sp>
        <p:nvSpPr>
          <p:cNvPr id="32" name="Text 30"/>
          <p:cNvSpPr txBox="1"/>
          <p:nvPr/>
        </p:nvSpPr>
        <p:spPr>
          <a:xfrm>
            <a:off x="9537954" y="2679192"/>
            <a:ext cx="13095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9537954" y="2980944"/>
            <a:ext cx="130957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1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confirms, dismisses or escalates.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502920" y="3758184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18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Dashed nodes fire conditionally on confidence and risk tier. The terminus does not.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18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13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18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SENTINEL — RESTRICTED, FOR OFFICIAL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C6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THE GOVERNING CONSTRAINT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4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system cannot act on its own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36192"/>
            <a:ext cx="89486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policy commitment that could be relaxed later. It is enforced in the data layer.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2322576"/>
            <a:ext cx="146304" cy="18288"/>
          </a:xfrm>
          <a:prstGeom prst="rect">
            <a:avLst/>
          </a:prstGeom>
          <a:solidFill>
            <a:srgbClr val="8C6A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58952" y="2267712"/>
            <a:ext cx="600804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at the database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constraint rejects any case record that attempts to bypass human review. There is no code path and no configuration setting that can disable it.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3099816"/>
            <a:ext cx="146304" cy="18288"/>
          </a:xfrm>
          <a:prstGeom prst="rect">
            <a:avLst/>
          </a:prstGeom>
          <a:solidFill>
            <a:srgbClr val="8C6A2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58952" y="3044952"/>
            <a:ext cx="600804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legal output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mapping is a drafting aid for a legally trained reviewer to confirm — never a determination. The interface states this on every case.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3877056"/>
            <a:ext cx="146304" cy="18288"/>
          </a:xfrm>
          <a:prstGeom prst="rect">
            <a:avLst/>
          </a:prstGeom>
          <a:solidFill>
            <a:srgbClr val="8C6A2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58952" y="3822192"/>
            <a:ext cx="600804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fabricated citations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provision cannot be verified, the system records “not yet mapped” rather than proposing one.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4654296"/>
            <a:ext cx="146304" cy="18288"/>
          </a:xfrm>
          <a:prstGeom prst="rect">
            <a:avLst/>
          </a:prstGeom>
          <a:solidFill>
            <a:srgbClr val="8C6A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58952" y="4599432"/>
            <a:ext cx="600804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records the officer, timestamp, decision and written reasoning — available for departmental or judicial scrutiny.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041319" y="2267712"/>
            <a:ext cx="4647456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42487" y="2414016"/>
            <a:ext cx="424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C6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ACCOUNTABILITY BOUNDARY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7242487" y="2724912"/>
            <a:ext cx="424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4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requires_human_review
INTEGER NOT NULL
DEFAULT 1
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C6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 (requires_human_review = 1)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242487" y="4050792"/>
            <a:ext cx="424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case file carries this constraint. A record that tried to skip review would be rejected by the database itself.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18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13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18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SENTINEL — RESTRICTED, FOR OFFICIAL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C6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— LEGAL GROUNDING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4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Flagged content, matched to statute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73352"/>
          <a:ext cx="11185855" cy="2651760"/>
        </p:xfrm>
        <a:graphic>
          <a:graphicData uri="http://schemas.openxmlformats.org/drawingml/2006/table">
            <a:tbl>
              <a:tblPr/>
              <a:tblGrid>
                <a:gridCol w="3132039"/>
                <a:gridCol w="3132039"/>
                <a:gridCol w="4921776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18A9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Instrument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18A9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Provision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18A9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Subject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Pakistan Penal 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2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153-A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Promoting enmity between groups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Pakistan Penal 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2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295-A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Deliberate acts to outrage religious feelings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PECA 2016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2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Cyber-offence sections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Offences via electronic communication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Constitution of Pakistan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2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Article 20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Freedom of religion — recorded as the competing right to be weighed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Gilgit-Baltistan local law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876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Not yet mapped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Stated explicitly rather than guessed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553712"/>
            <a:ext cx="11185855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4553712"/>
            <a:ext cx="45720" cy="777240"/>
          </a:xfrm>
          <a:prstGeom prst="rect">
            <a:avLst/>
          </a:prstGeom>
          <a:solidFill>
            <a:srgbClr val="8C6A2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58952" y="4663440"/>
            <a:ext cx="10728655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20 is carried deliberately. A system that only ever cites the offence, and never the right being weighed against it, is an enforcement tool rather than a legal one.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18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13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18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SENTINEL — RESTRICTED, FOR OFFICIAL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C6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— PRESENT STATUS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4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exists today, stated plainly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0876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prototype is built and running. Presenting it as a finished system would be a disservice — and in a security context, a dangerous one.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039112"/>
          <a:ext cx="11185855" cy="2880360"/>
        </p:xfrm>
        <a:graphic>
          <a:graphicData uri="http://schemas.openxmlformats.org/drawingml/2006/table">
            <a:tbl>
              <a:tblPr/>
              <a:tblGrid>
                <a:gridCol w="3579474"/>
                <a:gridCol w="2684605"/>
                <a:gridCol w="4921776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18A9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Component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18A9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Status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18A9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Note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655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Operational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yet validated on GB content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orchestration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655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Operational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Tested end-to-end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review queue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655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Operational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 enforced at database level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mapping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876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Needs validation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advocate sign-off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Campaign clustering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876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Simplified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Embeddings + cosine, not full ULTRA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Sarcasm detection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B32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Placeholder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Rule-based; not a trained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District geo-tagging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B32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Unavailable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reliable location source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 &amp; RBAC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B32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Not built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before production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5102352"/>
            <a:ext cx="11185855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5102352"/>
            <a:ext cx="45720" cy="777240"/>
          </a:xfrm>
          <a:prstGeom prst="rect">
            <a:avLst/>
          </a:prstGeom>
          <a:solidFill>
            <a:srgbClr val="8C6A2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58952" y="5212080"/>
            <a:ext cx="10728655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published 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95.7%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accuracy figure was obtained on the model's original academic test set. It has 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been validated on Gilgit-Baltistan content, and real-world accuracy on local dialects should be expected to be lower until retraining is complete.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18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13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18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SENTINEL — RESTRICTED, FOR OFFICIAL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C6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— APPROACH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4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year. One approved figure.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36192"/>
            <a:ext cx="950797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twelve-month engagement covering all development, hardware and twelve months of subscriptions — with an early review point at Month 4, before the greater part of the money is committed.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2496312"/>
            <a:ext cx="355793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633472"/>
            <a:ext cx="31921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6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1 · MONTHS 1–3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907792"/>
            <a:ext cx="31921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209544"/>
            <a:ext cx="319217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Gilgit &amp; Skardu. Delivers a measured accuracy report on the Department's own content. PKR 6.93M.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16882" y="2496312"/>
            <a:ext cx="355793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99762" y="2633472"/>
            <a:ext cx="31921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6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2 · MONTHS 4–12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4499762" y="2907792"/>
            <a:ext cx="31921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rollout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499762" y="3209544"/>
            <a:ext cx="319217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retraining, security hardening, authentication, remaining districts, officer training. PKR 22.96M.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30845" y="2496312"/>
            <a:ext cx="355793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13725" y="2633472"/>
            <a:ext cx="31921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6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 2 ONWARD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8313725" y="2907792"/>
            <a:ext cx="31921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sought here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313725" y="3209544"/>
            <a:ext cx="319217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charges shown for transparency only, to be submitted separately when lower-cost options may exist.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4507992"/>
            <a:ext cx="11185855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4507992"/>
            <a:ext cx="45720" cy="777240"/>
          </a:xfrm>
          <a:prstGeom prst="rect">
            <a:avLst/>
          </a:prstGeom>
          <a:solidFill>
            <a:srgbClr val="8C6A2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58952" y="4617720"/>
            <a:ext cx="10728655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stages are 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approved figure of PKR 29,894,666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two purchases. Stage 1 is the first three months of it.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18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13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18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SENTINEL — RESTRICTED, FOR OFFICIAL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C6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— COST PLAN 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4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1 — Validation Pilot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73352"/>
          <a:ext cx="11185855" cy="3291840"/>
        </p:xfrm>
        <a:graphic>
          <a:graphicData uri="http://schemas.openxmlformats.org/drawingml/2006/table">
            <a:tbl>
              <a:tblPr/>
              <a:tblGrid>
                <a:gridCol w="8053816"/>
                <a:gridCol w="3132039"/>
              </a:tblGrid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18A9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Cost head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818A9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PKR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6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resources — 7 roles, part-time over 3 months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A52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3,497,500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— GPU workstation, UPS, 2 review stations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A52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1,580,000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 &amp; subscriptions (3 months)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A52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227,160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&amp; annotation — initial GB sample 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A52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350,000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— single session, 2 districts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A52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150,000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Travel &amp; 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A52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250,000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Administrative overhead (6%)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A52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363,280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Contingency (8%)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A52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513,435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— Stage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4181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6,931,375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E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919472"/>
            <a:ext cx="36576" cy="960120"/>
          </a:xfrm>
          <a:prstGeom prst="rect">
            <a:avLst/>
          </a:prstGeom>
          <a:solidFill>
            <a:srgbClr val="8C6A2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67512" y="4919472"/>
            <a:ext cx="33811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6.93M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667512" y="5376672"/>
            <a:ext cx="33811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1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— within the Year 1 total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667512" y="5632704"/>
            <a:ext cx="33811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18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USD 24,755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322978" y="4919472"/>
            <a:ext cx="36576" cy="960120"/>
          </a:xfrm>
          <a:prstGeom prst="rect">
            <a:avLst/>
          </a:prstGeom>
          <a:solidFill>
            <a:srgbClr val="8C6A2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487570" y="4919472"/>
            <a:ext cx="33811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487570" y="5376672"/>
            <a:ext cx="33811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1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to a measured result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4487570" y="5632704"/>
            <a:ext cx="33811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18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Gilgit &amp; Skardu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8143037" y="4919472"/>
            <a:ext cx="36576" cy="960120"/>
          </a:xfrm>
          <a:prstGeom prst="rect">
            <a:avLst/>
          </a:prstGeom>
          <a:solidFill>
            <a:srgbClr val="8C6A2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307629" y="4919472"/>
            <a:ext cx="33811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23%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8307629" y="5376672"/>
            <a:ext cx="33811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1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Year 1 program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307629" y="5632704"/>
            <a:ext cx="33811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18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 point at Month 4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18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13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18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SENTINEL — RESTRICTED, FOR OFFICIAL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C6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— COST PLAN B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4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1 Complete Program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73352"/>
          <a:ext cx="11185855" cy="3621024"/>
        </p:xfrm>
        <a:graphic>
          <a:graphicData uri="http://schemas.openxmlformats.org/drawingml/2006/table">
            <a:tbl>
              <a:tblPr/>
              <a:tblGrid>
                <a:gridCol w="8053816"/>
                <a:gridCol w="3132039"/>
              </a:tblGrid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18A9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Cost head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818A9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PKR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6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resources — 11 roles, part-time over 12 months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A52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18,290,000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(CapEx) — single server, UPS, 4 workstations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A52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3,210,000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 &amp; subscriptions — 12 months included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A52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1,313,440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&amp; annotation — ~25,000 GB samples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A52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1,200,000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&amp; capacity building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A52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800,000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&amp; governance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A52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600,000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Travel &amp; 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A52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700,000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Administrative overhead (6%)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A52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1,566,806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Contingency &amp; risk reserve (8%)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A52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2,214,420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— Year 1 (all-inclusive)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4181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29,894,666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E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193792"/>
            <a:ext cx="36576" cy="960120"/>
          </a:xfrm>
          <a:prstGeom prst="rect">
            <a:avLst/>
          </a:prstGeom>
          <a:solidFill>
            <a:srgbClr val="8C6A2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67512" y="5193792"/>
            <a:ext cx="33811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29.89M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667512" y="5650992"/>
            <a:ext cx="33811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1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— under the approved ceiling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667512" y="5907024"/>
            <a:ext cx="33811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18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USD 106,767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322978" y="5193792"/>
            <a:ext cx="36576" cy="960120"/>
          </a:xfrm>
          <a:prstGeom prst="rect">
            <a:avLst/>
          </a:prstGeom>
          <a:solidFill>
            <a:srgbClr val="8C6A2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487570" y="5193792"/>
            <a:ext cx="33811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487570" y="5650992"/>
            <a:ext cx="33811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1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of subscriptions included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4487570" y="5907024"/>
            <a:ext cx="33811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18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further Year 1 cost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8143037" y="5193792"/>
            <a:ext cx="36576" cy="960120"/>
          </a:xfrm>
          <a:prstGeom prst="rect">
            <a:avLst/>
          </a:prstGeom>
          <a:solidFill>
            <a:srgbClr val="8C6A2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307629" y="5193792"/>
            <a:ext cx="33811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~100K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8307629" y="5650992"/>
            <a:ext cx="33811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1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/ month capacity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307629" y="5907024"/>
            <a:ext cx="33811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18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 tier, single server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18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13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18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SENTINEL — RESTRICTED, FOR OFFICIAL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C6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— AFTER YEAR 1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4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Recurring charges — not sought here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9047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for planning transparency only. Per the Department's direction these form a separate submission nearer the time, when lower-cost technical options may be available.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039112"/>
          <a:ext cx="6487796" cy="3291840"/>
        </p:xfrm>
        <a:graphic>
          <a:graphicData uri="http://schemas.openxmlformats.org/drawingml/2006/table">
            <a:tbl>
              <a:tblPr/>
              <a:tblGrid>
                <a:gridCol w="4671213"/>
                <a:gridCol w="1816583"/>
              </a:tblGrid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18A9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Cost head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818A9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PKR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6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Skeleton operations team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A52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6,330,000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Apify subscription &amp; overage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A52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1,004,640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 &amp; off-site backup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A52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268,800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maintenance (8%)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A52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256,800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&amp; connectivity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A52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600,000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security review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A52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400,000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retraining, twice yearly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A52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800,000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Contingency (10%)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4A52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966,024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Indicative annual 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4181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10,626,264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E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265036" y="2039112"/>
            <a:ext cx="36576" cy="914400"/>
          </a:xfrm>
          <a:prstGeom prst="rect">
            <a:avLst/>
          </a:prstGeom>
          <a:solidFill>
            <a:srgbClr val="8C6A2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429628" y="2039112"/>
            <a:ext cx="42591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72.40M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7429628" y="2496312"/>
            <a:ext cx="42591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1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— indicative five-year total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7429628" y="2752344"/>
            <a:ext cx="42591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18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USD 258,570 · if later years approved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265036" y="3182112"/>
            <a:ext cx="4423739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265036" y="3182112"/>
            <a:ext cx="45720" cy="2011680"/>
          </a:xfrm>
          <a:prstGeom prst="rect">
            <a:avLst/>
          </a:prstGeom>
          <a:solidFill>
            <a:srgbClr val="8C6A2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521068" y="3291840"/>
            <a:ext cx="3966539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is not discretionary maintenance. Without it the model grows progressively less reliable while continuing to appear authoritative — the most dangerous failure mode for a system of this kind.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18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13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18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SENTINEL — RESTRICTED, FOR OFFICIAL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C6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— SCOPE CALIBRATION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4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envelope buys — and what it does not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44752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Delivering within the approved ceiling required real reductions in scope, not a discount on the same scope. Stating them plainly matters: an approval granted on an unstated assumption of wider scope fails during delivery.</a:t>
            </a:r>
            <a:endParaRPr lang="en-US" sz="10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084832"/>
          <a:ext cx="11185855" cy="3063240"/>
        </p:xfrm>
        <a:graphic>
          <a:graphicData uri="http://schemas.openxmlformats.org/drawingml/2006/table">
            <a:tbl>
              <a:tblPr/>
              <a:tblGrid>
                <a:gridCol w="4698059"/>
                <a:gridCol w="3132039"/>
                <a:gridCol w="3355757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18A9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Capability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18A9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Year 1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18A9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Deferred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4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pipeline &amp; officer dashboard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655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Full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4A5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4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review, audit trail, accountability constraint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655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Full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4A5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4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mapping with advocate validation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655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Full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4A5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4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infrastructure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876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Single server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4A5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High-availability pair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4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Disaster recovery site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B32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Not included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4A5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Off-site backup only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4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Ingestion capacity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876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~100K / month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4A5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300–500K (Business tier)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4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GB annotation corpus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876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~25,000 samples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4A5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100,000 samples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4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assurance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876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One pen test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4A5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27001, bias audit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4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Officer workstations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876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4A5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5330952"/>
            <a:ext cx="11185855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5330952"/>
            <a:ext cx="45720" cy="640080"/>
          </a:xfrm>
          <a:prstGeom prst="rect">
            <a:avLst/>
          </a:prstGeom>
          <a:solidFill>
            <a:srgbClr val="8C6A2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58952" y="5440680"/>
            <a:ext cx="107286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reductions touch the safeguards.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Human review, the audit trail, the accountability constraint and legal validation are funded in full — they are what make the system defensible if a decision taken with its assistance is challenged.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18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13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18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SENTINEL — RESTRICTED, FOR OFFICIAL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C6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— RISK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4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Principal risks &amp; mitigation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73352"/>
          <a:ext cx="11185855" cy="4160520"/>
        </p:xfrm>
        <a:graphic>
          <a:graphicData uri="http://schemas.openxmlformats.org/drawingml/2006/table">
            <a:tbl>
              <a:tblPr/>
              <a:tblGrid>
                <a:gridCol w="3579474"/>
                <a:gridCol w="1454161"/>
                <a:gridCol w="61522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18A9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Risk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18A9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Severity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18A9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Mitigation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4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positive leads to wrongful action against a citizen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B32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High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4A5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Mandatory human review; no autonomous path exists; legal officer sign-off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4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Under-performance on Shina / Balti / Burushaski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B32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High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4A5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GB corpus collection and retraining funded; per-language accuracy reported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4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Perceived as mass surveillance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B32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High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4A5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Published transparency policy, grievance mechanism, independent oversight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4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Single-server failure causes outage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876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Med-High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4A5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Accepted consequence of the budget envelope — mitigated by spares, nightly off-site backup and a documented rebuild procedure, not automatic failover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4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exceeds Scale-tier capacity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876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Medium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4A5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monitoring with alerting; tier upgrade costed and presented before any breach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4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or provider terms change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876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Medium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4A5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Pluggable ingestion; licensed provider only; no direct scraping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4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Foreign-exchange exposure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876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Medium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4A5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FX contingency in reserve; annual re-basing of USD items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4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Key-person dependency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876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Medium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4A5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Documentation, train-the-trainer, departmental capability transfer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18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18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SENTINEL — RESTRICTED, FOR OFFICIAL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C6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— RECOMMENDATION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111858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4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 PKR 29,894,666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901952"/>
            <a:ext cx="950797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Year 1 Complete Program — all development, hardware and twelve months of subscription charges, within the ceiling already approved by the Home Secretary.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2907792"/>
            <a:ext cx="11185855" cy="0"/>
          </a:xfrm>
          <a:prstGeom prst="line">
            <a:avLst/>
          </a:prstGeom>
          <a:noFill/>
          <a:ln w="12700">
            <a:solidFill>
              <a:srgbClr val="D8D8D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3136392"/>
            <a:ext cx="35457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Costed to the envelope, honestly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639312"/>
            <a:ext cx="35457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was reduced in infrastructure resilience, assurance depth and capacity — and stated plainly, so nothing fails by surprise during delivery.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322978" y="3136392"/>
            <a:ext cx="35457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Safeguards funded in full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322978" y="3639312"/>
            <a:ext cx="35457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review, audit trail, the accountability constraint and legal validation are untouched. They are what make the system defensible.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143037" y="3136392"/>
            <a:ext cx="35457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 point at Month 4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143037" y="3639312"/>
            <a:ext cx="35457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delivers measured accuracy on GB content before the greater part of the expenditure is committed — with a documented basis to continue, adjust or halt.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5148072"/>
            <a:ext cx="2743200" cy="0"/>
          </a:xfrm>
          <a:prstGeom prst="line">
            <a:avLst/>
          </a:prstGeom>
          <a:noFill/>
          <a:ln w="12700">
            <a:solidFill>
              <a:srgbClr val="B9B9A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522122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18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SIGNATURE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546811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Zain Abbas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1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Lead, Zircon Logics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11880" y="5148072"/>
            <a:ext cx="2743200" cy="0"/>
          </a:xfrm>
          <a:prstGeom prst="line">
            <a:avLst/>
          </a:prstGeom>
          <a:noFill/>
          <a:ln w="12700">
            <a:solidFill>
              <a:srgbClr val="B9B9A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11880" y="522122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18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18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13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18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SENTINEL — RESTRICTED, FOR OFFICIAL USE ONLY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Hate Speech Early-Warning &amp; Legal Triage System</dc:title>
  <dc:subject>Technical &amp; Financial Proposal — Government of Gilgit-Baltistan</dc:subject>
  <dc:creator>Zircon Logics</dc:creator>
  <cp:lastModifiedBy>Zircon Logics</cp:lastModifiedBy>
  <cp:revision>1</cp:revision>
  <dcterms:created xsi:type="dcterms:W3CDTF">2026-09-15T10:56:09Z</dcterms:created>
  <dcterms:modified xsi:type="dcterms:W3CDTF">2026-09-15T10:56:09Z</dcterms:modified>
</cp:coreProperties>
</file>